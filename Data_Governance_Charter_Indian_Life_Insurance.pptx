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Data Governance Charter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For Indian Life Insurance Provider</a:t>
            </a:r>
          </a:p>
          <a:p>
            <a:r>
              <a:t>Establishing Excellence in Data Management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Purpose: Establish a comprehensive framework for managing data assets</a:t>
            </a:r>
          </a:p>
          <a:p>
            <a:pPr/>
            <a:r>
              <a:t>Scope: All data across the organization including customer, policy, claims, and regulatory data</a:t>
            </a:r>
          </a:p>
          <a:p>
            <a:pPr/>
            <a:r>
              <a:t>Compliance: Aligned with IRDAI regulations and data protection laws</a:t>
            </a:r>
          </a:p>
          <a:p>
            <a:pPr/>
            <a:r>
              <a:t>Objectives:</a:t>
            </a:r>
          </a:p>
          <a:p>
            <a:pPr lvl="1"/>
            <a:r>
              <a:t>Ensure data quality, accuracy, and consistency</a:t>
            </a:r>
          </a:p>
          <a:p>
            <a:pPr lvl="1"/>
            <a:r>
              <a:t>Protect sensitive customer information</a:t>
            </a:r>
          </a:p>
          <a:p>
            <a:pPr lvl="1"/>
            <a:r>
              <a:t>Enable data-driven decision making</a:t>
            </a:r>
          </a:p>
          <a:p>
            <a:pPr lvl="1"/>
            <a:r>
              <a:t>Maintain regulatory compliance</a:t>
            </a:r>
          </a:p>
          <a:p>
            <a:pPr lvl="1"/>
            <a:r>
              <a:t>Establish clear accountability for data assets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Governance Vision &amp; Mission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Vision:</a:t>
            </a:r>
          </a:p>
          <a:p>
            <a:pPr lvl="1"/>
            <a:r>
              <a:t>To be recognized as a data-driven organization that leverages trusted, high-quality data to deliver exceptional customer value and maintain regulatory excellence</a:t>
            </a:r>
          </a:p>
          <a:p>
            <a:pPr/>
          </a:p>
          <a:p>
            <a:pPr/>
            <a:r>
              <a:t>Mission:</a:t>
            </a:r>
          </a:p>
          <a:p>
            <a:pPr lvl="1"/>
            <a:r>
              <a:t>Implement robust data governance practices across all business functions</a:t>
            </a:r>
          </a:p>
          <a:p>
            <a:pPr lvl="1"/>
            <a:r>
              <a:t>Ensure data is accurate, accessible, and secure</a:t>
            </a:r>
          </a:p>
          <a:p>
            <a:pPr lvl="1"/>
            <a:r>
              <a:t>Foster a data-driven culture throughout the organization</a:t>
            </a:r>
          </a:p>
          <a:p>
            <a:pPr lvl="1"/>
            <a:r>
              <a:t>Maintain compliance with IRDAI and data protection regulations</a:t>
            </a:r>
          </a:p>
          <a:p>
            <a:pPr lvl="1"/>
            <a:r>
              <a:t>Enable strategic decision-making through trusted data assets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Governance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Core Components:</a:t>
            </a:r>
          </a:p>
          <a:p>
            <a:pPr lvl="1"/>
            <a:r>
              <a:t>Data Governance Council - Strategic oversight and decision-making</a:t>
            </a:r>
          </a:p>
          <a:p>
            <a:pPr lvl="1"/>
            <a:r>
              <a:t>Data Governance Office - Day-to-day operations and coordination</a:t>
            </a:r>
          </a:p>
          <a:p>
            <a:pPr lvl="1"/>
            <a:r>
              <a:t>Subject Area Data Owners - Accountability for specific domains</a:t>
            </a:r>
          </a:p>
          <a:p>
            <a:pPr lvl="1"/>
            <a:r>
              <a:t>Data Stewards - Operational data quality management</a:t>
            </a:r>
          </a:p>
          <a:p>
            <a:pPr lvl="1"/>
            <a:r>
              <a:t>Data Custodians - Technical implementation and security</a:t>
            </a:r>
          </a:p>
          <a:p>
            <a:pPr/>
          </a:p>
          <a:p>
            <a:pPr/>
            <a:r>
              <a:t>Supporting Elements:</a:t>
            </a:r>
          </a:p>
          <a:p>
            <a:pPr lvl="1"/>
            <a:r>
              <a:t>Policies and Standards</a:t>
            </a:r>
          </a:p>
          <a:p>
            <a:pPr lvl="1"/>
            <a:r>
              <a:t>Data Quality Framework</a:t>
            </a:r>
          </a:p>
          <a:p>
            <a:pPr lvl="1"/>
            <a:r>
              <a:t>Security and Privacy Controls</a:t>
            </a:r>
          </a:p>
          <a:p>
            <a:pPr lvl="1"/>
            <a:r>
              <a:t>Metrics and Monitoring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Organizational Structure: Data Governance Council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Chair: Chief Data Officer (CDO) / Chief Information Officer (CIO)</a:t>
            </a:r>
          </a:p>
          <a:p>
            <a:pPr/>
          </a:p>
          <a:p>
            <a:pPr/>
            <a:r>
              <a:t>Members:</a:t>
            </a:r>
          </a:p>
          <a:p>
            <a:pPr lvl="1"/>
            <a:r>
              <a:t>Chief Financial Officer (CFO)</a:t>
            </a:r>
          </a:p>
          <a:p>
            <a:pPr lvl="1"/>
            <a:r>
              <a:t>Chief Risk Officer (CRO)</a:t>
            </a:r>
          </a:p>
          <a:p>
            <a:pPr lvl="1"/>
            <a:r>
              <a:t>Chief Compliance Officer</a:t>
            </a:r>
          </a:p>
          <a:p>
            <a:pPr lvl="1"/>
            <a:r>
              <a:t>Head of Actuarial</a:t>
            </a:r>
          </a:p>
          <a:p>
            <a:pPr lvl="1"/>
            <a:r>
              <a:t>Head of Operations</a:t>
            </a:r>
          </a:p>
          <a:p>
            <a:pPr lvl="1"/>
            <a:r>
              <a:t>Head of IT/Technology</a:t>
            </a:r>
          </a:p>
          <a:p>
            <a:pPr lvl="1"/>
            <a:r>
              <a:t>Head of Customer Service</a:t>
            </a:r>
          </a:p>
          <a:p>
            <a:pPr/>
          </a:p>
          <a:p>
            <a:pPr/>
            <a:r>
              <a:t>Responsibilities:</a:t>
            </a:r>
          </a:p>
          <a:p>
            <a:pPr lvl="1"/>
            <a:r>
              <a:t>Approve data governance policies and standards</a:t>
            </a:r>
          </a:p>
          <a:p>
            <a:pPr lvl="1"/>
            <a:r>
              <a:t>Resolve escalated data-related issues</a:t>
            </a:r>
          </a:p>
          <a:p>
            <a:pPr lvl="1"/>
            <a:r>
              <a:t>Allocate resources for data initiatives</a:t>
            </a:r>
          </a:p>
          <a:p>
            <a:pPr lvl="1"/>
            <a:r>
              <a:t>Review governance metrics quarterly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Subject Area: Policy Administration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Data Owner: Head of Policy Administration / Chief Operations Officer</a:t>
            </a:r>
          </a:p>
          <a:p>
            <a:pPr/>
          </a:p>
          <a:p>
            <a:pPr/>
            <a:r>
              <a:t>Data Stewards:</a:t>
            </a:r>
          </a:p>
          <a:p>
            <a:pPr lvl="1"/>
            <a:r>
              <a:t>Policy Operations Manager</a:t>
            </a:r>
          </a:p>
          <a:p>
            <a:pPr lvl="1"/>
            <a:r>
              <a:t>Premium Administration Lead</a:t>
            </a:r>
          </a:p>
          <a:p>
            <a:pPr lvl="1"/>
            <a:r>
              <a:t>Policy Services Manager</a:t>
            </a:r>
          </a:p>
          <a:p>
            <a:pPr/>
          </a:p>
          <a:p>
            <a:pPr/>
            <a:r>
              <a:t>Key Data Elements:</a:t>
            </a:r>
          </a:p>
          <a:p>
            <a:pPr lvl="1"/>
            <a:r>
              <a:t>Policy details (number, type, status, sum assured)</a:t>
            </a:r>
          </a:p>
          <a:p>
            <a:pPr lvl="1"/>
            <a:r>
              <a:t>Premium information (amount, frequency, payment status)</a:t>
            </a:r>
          </a:p>
          <a:p>
            <a:pPr lvl="1"/>
            <a:r>
              <a:t>Policy riders and add-ons</a:t>
            </a:r>
          </a:p>
          <a:p>
            <a:pPr lvl="1"/>
            <a:r>
              <a:t>Policy lifecycle events (issuance, renewals, lapses, surrenders)</a:t>
            </a:r>
          </a:p>
          <a:p>
            <a:pPr lvl="1"/>
            <a:r>
              <a:t>Beneficiary information</a:t>
            </a:r>
          </a:p>
          <a:p>
            <a:pPr lvl="1"/>
            <a:r>
              <a:t>Maturity and surrender values</a:t>
            </a:r>
          </a:p>
          <a:p>
            <a:pPr/>
          </a:p>
          <a:p>
            <a:pPr/>
            <a:r>
              <a:t>Compliance Requirements: IRDAI guidelines on policy administration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Subject Area: Claims Management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Data Owner: Head of Claims / Chief Claims Officer</a:t>
            </a:r>
          </a:p>
          <a:p>
            <a:pPr/>
          </a:p>
          <a:p>
            <a:pPr/>
            <a:r>
              <a:t>Data Stewards:</a:t>
            </a:r>
          </a:p>
          <a:p>
            <a:pPr lvl="1"/>
            <a:r>
              <a:t>Claims Operations Manager</a:t>
            </a:r>
          </a:p>
          <a:p>
            <a:pPr lvl="1"/>
            <a:r>
              <a:t>Claims Underwriting Lead</a:t>
            </a:r>
          </a:p>
          <a:p>
            <a:pPr lvl="1"/>
            <a:r>
              <a:t>Claims Settlement Manager</a:t>
            </a:r>
          </a:p>
          <a:p>
            <a:pPr/>
          </a:p>
          <a:p>
            <a:pPr/>
            <a:r>
              <a:t>Key Data Elements:</a:t>
            </a:r>
          </a:p>
          <a:p>
            <a:pPr lvl="1"/>
            <a:r>
              <a:t>Claim registration details</a:t>
            </a:r>
          </a:p>
          <a:p>
            <a:pPr lvl="1"/>
            <a:r>
              <a:t>Claimant information and documentation</a:t>
            </a:r>
          </a:p>
          <a:p>
            <a:pPr lvl="1"/>
            <a:r>
              <a:t>Claim assessment and investigation records</a:t>
            </a:r>
          </a:p>
          <a:p>
            <a:pPr lvl="1"/>
            <a:r>
              <a:t>Settlement amounts and payment details</a:t>
            </a:r>
          </a:p>
          <a:p>
            <a:pPr lvl="1"/>
            <a:r>
              <a:t>Claim rejection reasons and appeals</a:t>
            </a:r>
          </a:p>
          <a:p>
            <a:pPr lvl="1"/>
            <a:r>
              <a:t>Fraud detection indicators</a:t>
            </a:r>
          </a:p>
          <a:p>
            <a:pPr/>
          </a:p>
          <a:p>
            <a:pPr/>
            <a:r>
              <a:t>Compliance Requirements: IRDAI claim settlement regulations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Subject Area: Customer/Policyholder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Data Owner: Head of Customer Service / Chief Customer Officer</a:t>
            </a:r>
          </a:p>
          <a:p>
            <a:pPr/>
          </a:p>
          <a:p>
            <a:pPr/>
            <a:r>
              <a:t>Data Stewards:</a:t>
            </a:r>
          </a:p>
          <a:p>
            <a:pPr lvl="1"/>
            <a:r>
              <a:t>Customer Experience Manager</a:t>
            </a:r>
          </a:p>
          <a:p>
            <a:pPr lvl="1"/>
            <a:r>
              <a:t>CRM System Administrator</a:t>
            </a:r>
          </a:p>
          <a:p>
            <a:pPr lvl="1"/>
            <a:r>
              <a:t>Customer Data Quality Analyst</a:t>
            </a:r>
          </a:p>
          <a:p>
            <a:pPr/>
          </a:p>
          <a:p>
            <a:pPr/>
            <a:r>
              <a:t>Key Data Elements:</a:t>
            </a:r>
          </a:p>
          <a:p>
            <a:pPr lvl="1"/>
            <a:r>
              <a:t>Personal information (name, DOB, contact details, PAN, Aadhaar)</a:t>
            </a:r>
          </a:p>
          <a:p>
            <a:pPr lvl="1"/>
            <a:r>
              <a:t>KYC documentation and verification status</a:t>
            </a:r>
          </a:p>
          <a:p>
            <a:pPr lvl="1"/>
            <a:r>
              <a:t>Customer preferences and communication history</a:t>
            </a:r>
          </a:p>
          <a:p>
            <a:pPr lvl="1"/>
            <a:r>
              <a:t>Relationship mapping (family members, nominees)</a:t>
            </a:r>
          </a:p>
          <a:p>
            <a:pPr lvl="1"/>
            <a:r>
              <a:t>Customer segmentation and profiling data</a:t>
            </a:r>
          </a:p>
          <a:p>
            <a:pPr lvl="1"/>
            <a:r>
              <a:t>Complaints and grievances</a:t>
            </a:r>
          </a:p>
          <a:p>
            <a:pPr/>
          </a:p>
          <a:p>
            <a:pPr/>
            <a:r>
              <a:t>Compliance Requirements: DPDP Act 2023, IRDAI customer protection guidelines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Subject Area: Agent/Distribution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Data Owner: Head of Distribution / Chief Distribution Officer</a:t>
            </a:r>
          </a:p>
          <a:p>
            <a:pPr/>
          </a:p>
          <a:p>
            <a:pPr/>
            <a:r>
              <a:t>Data Stewards:</a:t>
            </a:r>
          </a:p>
          <a:p>
            <a:pPr lvl="1"/>
            <a:r>
              <a:t>Agency Operations Manager</a:t>
            </a:r>
          </a:p>
          <a:p>
            <a:pPr lvl="1"/>
            <a:r>
              <a:t>Bancassurance Partnerships Lead</a:t>
            </a:r>
          </a:p>
          <a:p>
            <a:pPr lvl="1"/>
            <a:r>
              <a:t>Distribution Analytics Manager</a:t>
            </a:r>
          </a:p>
          <a:p>
            <a:pPr/>
          </a:p>
          <a:p>
            <a:pPr/>
            <a:r>
              <a:t>Key Data Elements:</a:t>
            </a:r>
          </a:p>
          <a:p>
            <a:pPr lvl="1"/>
            <a:r>
              <a:t>Agent registration and licensing information</a:t>
            </a:r>
          </a:p>
          <a:p>
            <a:pPr lvl="1"/>
            <a:r>
              <a:t>Agent performance metrics and commissions</a:t>
            </a:r>
          </a:p>
          <a:p>
            <a:pPr lvl="1"/>
            <a:r>
              <a:t>Training and certification records</a:t>
            </a:r>
          </a:p>
          <a:p>
            <a:pPr lvl="1"/>
            <a:r>
              <a:t>Distribution channel data (branch, online, bancassurance)</a:t>
            </a:r>
          </a:p>
          <a:p>
            <a:pPr lvl="1"/>
            <a:r>
              <a:t>Partner/intermediary agreements</a:t>
            </a:r>
          </a:p>
          <a:p>
            <a:pPr lvl="1"/>
            <a:r>
              <a:t>Agent hierarchy and reporting structure</a:t>
            </a:r>
          </a:p>
          <a:p>
            <a:pPr/>
          </a:p>
          <a:p>
            <a:pPr/>
            <a:r>
              <a:t>Compliance Requirements: IRDAI agent licensing norms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Subject Area: Actuarial and Risk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Data Owner: Appointed Actuary / Head of Actuarial</a:t>
            </a:r>
          </a:p>
          <a:p>
            <a:pPr/>
          </a:p>
          <a:p>
            <a:pPr/>
            <a:r>
              <a:t>Data Stewards:</a:t>
            </a:r>
          </a:p>
          <a:p>
            <a:pPr lvl="1"/>
            <a:r>
              <a:t>Actuarial Analyst Lead</a:t>
            </a:r>
          </a:p>
          <a:p>
            <a:pPr lvl="1"/>
            <a:r>
              <a:t>Risk Modeling Specialist</a:t>
            </a:r>
          </a:p>
          <a:p>
            <a:pPr lvl="1"/>
            <a:r>
              <a:t>Reserving Manager</a:t>
            </a:r>
          </a:p>
          <a:p>
            <a:pPr/>
          </a:p>
          <a:p>
            <a:pPr/>
            <a:r>
              <a:t>Key Data Elements:</a:t>
            </a:r>
          </a:p>
          <a:p>
            <a:pPr lvl="1"/>
            <a:r>
              <a:t>Mortality and morbidity experience data</a:t>
            </a:r>
          </a:p>
          <a:p>
            <a:pPr lvl="1"/>
            <a:r>
              <a:t>Actuarial assumptions and parameters</a:t>
            </a:r>
          </a:p>
          <a:p>
            <a:pPr lvl="1"/>
            <a:r>
              <a:t>Reserve calculations and valuations</a:t>
            </a:r>
          </a:p>
          <a:p>
            <a:pPr lvl="1"/>
            <a:r>
              <a:t>Pricing models and rate tables</a:t>
            </a:r>
          </a:p>
          <a:p>
            <a:pPr lvl="1"/>
            <a:r>
              <a:t>Reinsurance treaty data</a:t>
            </a:r>
          </a:p>
          <a:p>
            <a:pPr lvl="1"/>
            <a:r>
              <a:t>Risk assessment and underwriting guidelines</a:t>
            </a:r>
          </a:p>
          <a:p>
            <a:pPr/>
          </a:p>
          <a:p>
            <a:pPr/>
            <a:r>
              <a:t>Compliance Requirements: IRDAI actuarial reporting requirements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Subject Area: Financial and Accounting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Data Owner: Chief Financial Officer (CFO)</a:t>
            </a:r>
          </a:p>
          <a:p>
            <a:pPr/>
          </a:p>
          <a:p>
            <a:pPr/>
            <a:r>
              <a:t>Data Stewards:</a:t>
            </a:r>
          </a:p>
          <a:p>
            <a:pPr lvl="1"/>
            <a:r>
              <a:t>Financial Controller</a:t>
            </a:r>
          </a:p>
          <a:p>
            <a:pPr lvl="1"/>
            <a:r>
              <a:t>Investment Accounting Manager</a:t>
            </a:r>
          </a:p>
          <a:p>
            <a:pPr lvl="1"/>
            <a:r>
              <a:t>GL Accounting Lead</a:t>
            </a:r>
          </a:p>
          <a:p>
            <a:pPr/>
          </a:p>
          <a:p>
            <a:pPr/>
            <a:r>
              <a:t>Key Data Elements:</a:t>
            </a:r>
          </a:p>
          <a:p>
            <a:pPr lvl="1"/>
            <a:r>
              <a:t>General ledger and chart of accounts</a:t>
            </a:r>
          </a:p>
          <a:p>
            <a:pPr lvl="1"/>
            <a:r>
              <a:t>Premium collection and revenue recognition</a:t>
            </a:r>
          </a:p>
          <a:p>
            <a:pPr lvl="1"/>
            <a:r>
              <a:t>Investment portfolio data</a:t>
            </a:r>
          </a:p>
          <a:p>
            <a:pPr lvl="1"/>
            <a:r>
              <a:t>Expense allocation and cost centers</a:t>
            </a:r>
          </a:p>
          <a:p>
            <a:pPr lvl="1"/>
            <a:r>
              <a:t>Financial statements and reports</a:t>
            </a:r>
          </a:p>
          <a:p>
            <a:pPr lvl="1"/>
            <a:r>
              <a:t>Budget and forecast data</a:t>
            </a:r>
          </a:p>
          <a:p>
            <a:pPr/>
          </a:p>
          <a:p>
            <a:pPr/>
            <a:r>
              <a:t>Compliance Requirements: Ind AS, IRDAI financial reporting norms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Subject Area: Regulatory and Compliance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Data Owner: Chief Compliance Officer</a:t>
            </a:r>
          </a:p>
          <a:p>
            <a:pPr/>
          </a:p>
          <a:p>
            <a:pPr/>
            <a:r>
              <a:t>Data Stewards:</a:t>
            </a:r>
          </a:p>
          <a:p>
            <a:pPr lvl="1"/>
            <a:r>
              <a:t>Regulatory Reporting Manager</a:t>
            </a:r>
          </a:p>
          <a:p>
            <a:pPr lvl="1"/>
            <a:r>
              <a:t>Compliance Monitoring Lead</a:t>
            </a:r>
          </a:p>
          <a:p>
            <a:pPr lvl="1"/>
            <a:r>
              <a:t>Audit and Control Specialist</a:t>
            </a:r>
          </a:p>
          <a:p>
            <a:pPr/>
          </a:p>
          <a:p>
            <a:pPr/>
            <a:r>
              <a:t>Key Data Elements:</a:t>
            </a:r>
          </a:p>
          <a:p>
            <a:pPr lvl="1"/>
            <a:r>
              <a:t>IRDAI regulatory returns and filings</a:t>
            </a:r>
          </a:p>
          <a:p>
            <a:pPr lvl="1"/>
            <a:r>
              <a:t>AML/CFT transaction monitoring data</a:t>
            </a:r>
          </a:p>
          <a:p>
            <a:pPr lvl="1"/>
            <a:r>
              <a:t>Solvency and capital adequacy metrics</a:t>
            </a:r>
          </a:p>
          <a:p>
            <a:pPr lvl="1"/>
            <a:r>
              <a:t>Internal audit findings and remediation</a:t>
            </a:r>
          </a:p>
          <a:p>
            <a:pPr lvl="1"/>
            <a:r>
              <a:t>Policy on data localization and privacy</a:t>
            </a:r>
          </a:p>
          <a:p>
            <a:pPr lvl="1"/>
            <a:r>
              <a:t>Regulatory correspondence and approvals</a:t>
            </a:r>
          </a:p>
          <a:p>
            <a:pPr/>
          </a:p>
          <a:p>
            <a:pPr/>
            <a:r>
              <a:t>Compliance Requirements: IRDAI regulations, PMLA, DPDP Act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Subject Area: Underwriting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Data Owner: Head of Underwriting / Chief Underwriting Officer</a:t>
            </a:r>
          </a:p>
          <a:p>
            <a:pPr/>
          </a:p>
          <a:p>
            <a:pPr/>
            <a:r>
              <a:t>Data Stewards:</a:t>
            </a:r>
          </a:p>
          <a:p>
            <a:pPr lvl="1"/>
            <a:r>
              <a:t>Underwriting Operations Manager</a:t>
            </a:r>
          </a:p>
          <a:p>
            <a:pPr lvl="1"/>
            <a:r>
              <a:t>Medical Underwriting Lead</a:t>
            </a:r>
          </a:p>
          <a:p>
            <a:pPr lvl="1"/>
            <a:r>
              <a:t>Risk Selection Analyst</a:t>
            </a:r>
          </a:p>
          <a:p>
            <a:pPr/>
          </a:p>
          <a:p>
            <a:pPr/>
            <a:r>
              <a:t>Key Data Elements:</a:t>
            </a:r>
          </a:p>
          <a:p>
            <a:pPr lvl="1"/>
            <a:r>
              <a:t>Proposal and application data</a:t>
            </a:r>
          </a:p>
          <a:p>
            <a:pPr lvl="1"/>
            <a:r>
              <a:t>Medical examination results and reports</a:t>
            </a:r>
          </a:p>
          <a:p>
            <a:pPr lvl="1"/>
            <a:r>
              <a:t>Risk assessment scores and decisions</a:t>
            </a:r>
          </a:p>
          <a:p>
            <a:pPr lvl="1"/>
            <a:r>
              <a:t>Underwriting guidelines and rules</a:t>
            </a:r>
          </a:p>
          <a:p>
            <a:pPr lvl="1"/>
            <a:r>
              <a:t>Loading and exclusion data</a:t>
            </a:r>
          </a:p>
          <a:p>
            <a:pPr lvl="1"/>
            <a:r>
              <a:t>Declined and postponed case records</a:t>
            </a:r>
          </a:p>
          <a:p>
            <a:pPr/>
          </a:p>
          <a:p>
            <a:pPr/>
            <a:r>
              <a:t>Compliance Requirements: IRDAI underwriting norms, medical confidentiality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Roles and Responsibilities: Data Owners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Accountability for specific subject areas of data</a:t>
            </a:r>
          </a:p>
          <a:p>
            <a:pPr/>
          </a:p>
          <a:p>
            <a:pPr/>
            <a:r>
              <a:t>Key Responsibilities:</a:t>
            </a:r>
          </a:p>
          <a:p>
            <a:pPr lvl="1"/>
            <a:r>
              <a:t>Define data requirements and business rules for their domain</a:t>
            </a:r>
          </a:p>
          <a:p>
            <a:pPr lvl="1"/>
            <a:r>
              <a:t>Approve access rights and data sharing agreements</a:t>
            </a:r>
          </a:p>
          <a:p>
            <a:pPr lvl="1"/>
            <a:r>
              <a:t>Ensure compliance with relevant regulations</a:t>
            </a:r>
          </a:p>
          <a:p>
            <a:pPr lvl="1"/>
            <a:r>
              <a:t>Resolve data-related issues within their domain</a:t>
            </a:r>
          </a:p>
          <a:p>
            <a:pPr lvl="1"/>
            <a:r>
              <a:t>Participate in Data Governance Council meetings</a:t>
            </a:r>
          </a:p>
          <a:p>
            <a:pPr lvl="1"/>
            <a:r>
              <a:t>Approve data quality standards for their subject area</a:t>
            </a:r>
          </a:p>
          <a:p>
            <a:pPr lvl="1"/>
            <a:r>
              <a:t>Sponsor data quality improvement initiatives</a:t>
            </a:r>
          </a:p>
          <a:p>
            <a:pPr lvl="1"/>
            <a:r>
              <a:t>Review and approve major changes to data structures</a:t>
            </a:r>
          </a:p>
          <a:p>
            <a:pPr/>
          </a:p>
          <a:p>
            <a:pPr/>
            <a:r>
              <a:t>Authority:</a:t>
            </a:r>
          </a:p>
          <a:p>
            <a:pPr lvl="1"/>
            <a:r>
              <a:t>Final decision-making for their subject area</a:t>
            </a:r>
          </a:p>
          <a:p>
            <a:pPr lvl="1"/>
            <a:r>
              <a:t>Budget allocation for data quality initiatives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Roles and Responsibilities: Data Stewards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Day-to-day operational management of data quality</a:t>
            </a:r>
          </a:p>
          <a:p>
            <a:pPr/>
          </a:p>
          <a:p>
            <a:pPr/>
            <a:r>
              <a:t>Key Responsibilities:</a:t>
            </a:r>
          </a:p>
          <a:p>
            <a:pPr lvl="1"/>
            <a:r>
              <a:t>Monitor data quality metrics and KPIs</a:t>
            </a:r>
          </a:p>
          <a:p>
            <a:pPr lvl="1"/>
            <a:r>
              <a:t>Identify and resolve data quality issues</a:t>
            </a:r>
          </a:p>
          <a:p>
            <a:pPr lvl="1"/>
            <a:r>
              <a:t>Maintain data definitions and business glossary</a:t>
            </a:r>
          </a:p>
          <a:p>
            <a:pPr lvl="1"/>
            <a:r>
              <a:t>Coordinate with IT for technical implementations</a:t>
            </a:r>
          </a:p>
          <a:p>
            <a:pPr lvl="1"/>
            <a:r>
              <a:t>Conduct data quality audits</a:t>
            </a:r>
          </a:p>
          <a:p>
            <a:pPr lvl="1"/>
            <a:r>
              <a:t>Train business users on data standards</a:t>
            </a:r>
          </a:p>
          <a:p>
            <a:pPr lvl="1"/>
            <a:r>
              <a:t>Document data lineage and transformations</a:t>
            </a:r>
          </a:p>
          <a:p>
            <a:pPr lvl="1"/>
            <a:r>
              <a:t>Manage metadata and data catalogs</a:t>
            </a:r>
          </a:p>
          <a:p>
            <a:pPr/>
          </a:p>
          <a:p>
            <a:pPr/>
            <a:r>
              <a:t>Reporting:</a:t>
            </a:r>
          </a:p>
          <a:p>
            <a:pPr lvl="1"/>
            <a:r>
              <a:t>Report to Data Owners on quality metrics</a:t>
            </a:r>
          </a:p>
          <a:p>
            <a:pPr lvl="1"/>
            <a:r>
              <a:t>Escalate critical issues to Data Governance Office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Roles and Responsibilities: Data Custodians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IT teams responsible for technical implementation and security</a:t>
            </a:r>
          </a:p>
          <a:p>
            <a:pPr/>
          </a:p>
          <a:p>
            <a:pPr/>
            <a:r>
              <a:t>Key Responsibilities:</a:t>
            </a:r>
          </a:p>
          <a:p>
            <a:pPr lvl="1"/>
            <a:r>
              <a:t>Implement technical controls for data security</a:t>
            </a:r>
          </a:p>
          <a:p>
            <a:pPr lvl="1"/>
            <a:r>
              <a:t>Manage database systems and data storage</a:t>
            </a:r>
          </a:p>
          <a:p>
            <a:pPr lvl="1"/>
            <a:r>
              <a:t>Execute backup and recovery procedures</a:t>
            </a:r>
          </a:p>
          <a:p>
            <a:pPr lvl="1"/>
            <a:r>
              <a:t>Implement access controls and authentication</a:t>
            </a:r>
          </a:p>
          <a:p>
            <a:pPr lvl="1"/>
            <a:r>
              <a:t>Monitor system performance and availability</a:t>
            </a:r>
          </a:p>
          <a:p>
            <a:pPr lvl="1"/>
            <a:r>
              <a:t>Deploy data quality tools and technologies</a:t>
            </a:r>
          </a:p>
          <a:p>
            <a:pPr lvl="1"/>
            <a:r>
              <a:t>Maintain data integration and ETL processes</a:t>
            </a:r>
          </a:p>
          <a:p>
            <a:pPr lvl="1"/>
            <a:r>
              <a:t>Ensure data encryption and protection</a:t>
            </a:r>
          </a:p>
          <a:p>
            <a:pPr/>
          </a:p>
          <a:p>
            <a:pPr/>
            <a:r>
              <a:t>Coordination:</a:t>
            </a:r>
          </a:p>
          <a:p>
            <a:pPr lvl="1"/>
            <a:r>
              <a:t>Work with Data Stewards to implement controls</a:t>
            </a:r>
          </a:p>
          <a:p>
            <a:pPr lvl="1"/>
            <a:r>
              <a:t>Support Data Owners with technical requirements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Governance Policies and Standards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Core Policies:</a:t>
            </a:r>
          </a:p>
          <a:p>
            <a:pPr lvl="1"/>
            <a:r>
              <a:t>Data Classification and Handling Policy</a:t>
            </a:r>
          </a:p>
          <a:p>
            <a:pPr lvl="1"/>
            <a:r>
              <a:t>Data Access and Authorization Policy</a:t>
            </a:r>
          </a:p>
          <a:p>
            <a:pPr lvl="1"/>
            <a:r>
              <a:t>Data Retention and Archival Policy</a:t>
            </a:r>
          </a:p>
          <a:p>
            <a:pPr lvl="1"/>
            <a:r>
              <a:t>Data Privacy and Protection Policy</a:t>
            </a:r>
          </a:p>
          <a:p>
            <a:pPr lvl="1"/>
            <a:r>
              <a:t>Data Quality Management Policy</a:t>
            </a:r>
          </a:p>
          <a:p>
            <a:pPr lvl="1"/>
            <a:r>
              <a:t>Master Data Management Policy</a:t>
            </a:r>
          </a:p>
          <a:p>
            <a:pPr lvl="1"/>
            <a:r>
              <a:t>Data Sharing and Third-Party Management Policy</a:t>
            </a:r>
          </a:p>
          <a:p>
            <a:pPr/>
          </a:p>
          <a:p>
            <a:pPr/>
            <a:r>
              <a:t>Standards:</a:t>
            </a:r>
          </a:p>
          <a:p>
            <a:pPr lvl="1"/>
            <a:r>
              <a:t>Data naming conventions and standards</a:t>
            </a:r>
          </a:p>
          <a:p>
            <a:pPr lvl="1"/>
            <a:r>
              <a:t>Data definition and metadata standards</a:t>
            </a:r>
          </a:p>
          <a:p>
            <a:pPr lvl="1"/>
            <a:r>
              <a:t>Data quality thresholds and SLAs</a:t>
            </a:r>
          </a:p>
          <a:p>
            <a:pPr lvl="1"/>
            <a:r>
              <a:t>Documentation and change management standards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Quality Management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Data Quality Dimensions:</a:t>
            </a:r>
          </a:p>
          <a:p>
            <a:pPr lvl="1"/>
            <a:r>
              <a:t>Accuracy - Data correctly represents real-world values</a:t>
            </a:r>
          </a:p>
          <a:p>
            <a:pPr lvl="1"/>
            <a:r>
              <a:t>Completeness - All required data is present</a:t>
            </a:r>
          </a:p>
          <a:p>
            <a:pPr lvl="1"/>
            <a:r>
              <a:t>Consistency - Data is uniform across systems</a:t>
            </a:r>
          </a:p>
          <a:p>
            <a:pPr lvl="1"/>
            <a:r>
              <a:t>Timeliness - Data is available when needed</a:t>
            </a:r>
          </a:p>
          <a:p>
            <a:pPr lvl="1"/>
            <a:r>
              <a:t>Validity - Data conforms to business rules</a:t>
            </a:r>
          </a:p>
          <a:p>
            <a:pPr lvl="1"/>
            <a:r>
              <a:t>Uniqueness - No duplicate records exist</a:t>
            </a:r>
          </a:p>
          <a:p>
            <a:pPr/>
          </a:p>
          <a:p>
            <a:pPr/>
            <a:r>
              <a:t>Quality Management Processes:</a:t>
            </a:r>
          </a:p>
          <a:p>
            <a:pPr lvl="1"/>
            <a:r>
              <a:t>Data profiling and assessment</a:t>
            </a:r>
          </a:p>
          <a:p>
            <a:pPr lvl="1"/>
            <a:r>
              <a:t>Issue identification and root cause analysis</a:t>
            </a:r>
          </a:p>
          <a:p>
            <a:pPr lvl="1"/>
            <a:r>
              <a:t>Remediation and improvement initiatives</a:t>
            </a:r>
          </a:p>
          <a:p>
            <a:pPr lvl="1"/>
            <a:r>
              <a:t>Ongoing monitoring and reporting</a:t>
            </a:r>
          </a:p>
          <a:p>
            <a:pPr lvl="1"/>
            <a:r>
              <a:t>Continuous improvement programs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Security and Privacy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Security Measures:</a:t>
            </a:r>
          </a:p>
          <a:p>
            <a:pPr lvl="1"/>
            <a:r>
              <a:t>Role-based access control (RBAC)</a:t>
            </a:r>
          </a:p>
          <a:p>
            <a:pPr lvl="1"/>
            <a:r>
              <a:t>Data encryption at rest and in transit</a:t>
            </a:r>
          </a:p>
          <a:p>
            <a:pPr lvl="1"/>
            <a:r>
              <a:t>Network security and firewalls</a:t>
            </a:r>
          </a:p>
          <a:p>
            <a:pPr lvl="1"/>
            <a:r>
              <a:t>Regular security audits and penetration testing</a:t>
            </a:r>
          </a:p>
          <a:p>
            <a:pPr lvl="1"/>
            <a:r>
              <a:t>Incident response and breach management</a:t>
            </a:r>
          </a:p>
          <a:p>
            <a:pPr/>
          </a:p>
          <a:p>
            <a:pPr/>
            <a:r>
              <a:t>Privacy Compliance:</a:t>
            </a:r>
          </a:p>
          <a:p>
            <a:pPr lvl="1"/>
            <a:r>
              <a:t>DPDP Act 2023 compliance framework</a:t>
            </a:r>
          </a:p>
          <a:p>
            <a:pPr lvl="1"/>
            <a:r>
              <a:t>Consent management for customer data</a:t>
            </a:r>
          </a:p>
          <a:p>
            <a:pPr lvl="1"/>
            <a:r>
              <a:t>Right to access, correction, and erasure</a:t>
            </a:r>
          </a:p>
          <a:p>
            <a:pPr lvl="1"/>
            <a:r>
              <a:t>Data localization requirements</a:t>
            </a:r>
          </a:p>
          <a:p>
            <a:pPr lvl="1"/>
            <a:r>
              <a:t>Privacy impact assessments</a:t>
            </a:r>
          </a:p>
          <a:p>
            <a:pPr lvl="1"/>
            <a:r>
              <a:t>IRDAI data protection guidelines adherence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Phase 1 (Months 1-3): Foundation</a:t>
            </a:r>
          </a:p>
          <a:p>
            <a:pPr lvl="1"/>
            <a:r>
              <a:t>Establish Data Governance Council and Office</a:t>
            </a:r>
          </a:p>
          <a:p>
            <a:pPr lvl="1"/>
            <a:r>
              <a:t>Appoint Data Owners and Stewards</a:t>
            </a:r>
          </a:p>
          <a:p>
            <a:pPr lvl="1"/>
            <a:r>
              <a:t>Define initial policies and standards</a:t>
            </a:r>
          </a:p>
          <a:p>
            <a:pPr lvl="1"/>
            <a:r>
              <a:t>Conduct current state assessment</a:t>
            </a:r>
          </a:p>
          <a:p>
            <a:pPr/>
          </a:p>
          <a:p>
            <a:pPr/>
            <a:r>
              <a:t>Phase 2 (Months 4-6): Core Implementation</a:t>
            </a:r>
          </a:p>
          <a:p>
            <a:pPr lvl="1"/>
            <a:r>
              <a:t>Implement data quality framework</a:t>
            </a:r>
          </a:p>
          <a:p>
            <a:pPr lvl="1"/>
            <a:r>
              <a:t>Deploy metadata management tools</a:t>
            </a:r>
          </a:p>
          <a:p>
            <a:pPr lvl="1"/>
            <a:r>
              <a:t>Establish data quality metrics and monitoring</a:t>
            </a:r>
          </a:p>
          <a:p>
            <a:pPr lvl="1"/>
            <a:r>
              <a:t>Launch training and awareness programs</a:t>
            </a:r>
          </a:p>
          <a:p>
            <a:pPr/>
          </a:p>
          <a:p>
            <a:pPr/>
            <a:r>
              <a:t>Phase 3 (Months 7-12): Expansion</a:t>
            </a:r>
          </a:p>
          <a:p>
            <a:pPr lvl="1"/>
            <a:r>
              <a:t>Roll out across all subject areas</a:t>
            </a:r>
          </a:p>
          <a:p>
            <a:pPr lvl="1"/>
            <a:r>
              <a:t>Implement advanced analytics and reporting</a:t>
            </a:r>
          </a:p>
          <a:p>
            <a:pPr lvl="1"/>
            <a:r>
              <a:t>Mature data quality processes</a:t>
            </a:r>
          </a:p>
          <a:p>
            <a:pPr lvl="1"/>
            <a:r>
              <a:t>Continuous improvement and optimization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Governance Metrics and KPIs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Data Quality Metrics:</a:t>
            </a:r>
          </a:p>
          <a:p>
            <a:pPr lvl="1"/>
            <a:r>
              <a:t>% of critical data elements meeting quality thresholds</a:t>
            </a:r>
          </a:p>
          <a:p>
            <a:pPr lvl="1"/>
            <a:r>
              <a:t>Number of data quality issues identified and resolved</a:t>
            </a:r>
          </a:p>
          <a:p>
            <a:pPr lvl="1"/>
            <a:r>
              <a:t>Data completeness scores by subject area</a:t>
            </a:r>
          </a:p>
          <a:p>
            <a:pPr lvl="1"/>
            <a:r>
              <a:t>Data accuracy rates for key business processes</a:t>
            </a:r>
          </a:p>
          <a:p>
            <a:pPr/>
          </a:p>
          <a:p>
            <a:pPr/>
            <a:r>
              <a:t>Operational Metrics:</a:t>
            </a:r>
          </a:p>
          <a:p>
            <a:pPr lvl="1"/>
            <a:r>
              <a:t>% of data with assigned owners and stewards</a:t>
            </a:r>
          </a:p>
          <a:p>
            <a:pPr lvl="1"/>
            <a:r>
              <a:t>Average time to resolve data issues</a:t>
            </a:r>
          </a:p>
          <a:p>
            <a:pPr lvl="1"/>
            <a:r>
              <a:t>User satisfaction with data quality</a:t>
            </a:r>
          </a:p>
          <a:p>
            <a:pPr lvl="1"/>
            <a:r>
              <a:t>% of employees trained on data governance</a:t>
            </a:r>
          </a:p>
          <a:p>
            <a:pPr/>
          </a:p>
          <a:p>
            <a:pPr/>
            <a:r>
              <a:t>Compliance Metrics:</a:t>
            </a:r>
          </a:p>
          <a:p>
            <a:pPr lvl="1"/>
            <a:r>
              <a:t>% compliance with IRDAI reporting timelines</a:t>
            </a:r>
          </a:p>
          <a:p>
            <a:pPr lvl="1"/>
            <a:r>
              <a:t>Number of data-related regulatory findings</a:t>
            </a:r>
          </a:p>
          <a:p>
            <a:pPr lvl="1"/>
            <a:r>
              <a:t>% of policies reviewed and updated annually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 and Value Proposition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Business Benefits:</a:t>
            </a:r>
          </a:p>
          <a:p>
            <a:pPr lvl="1"/>
            <a:r>
              <a:t>Improved decision-making through trusted data</a:t>
            </a:r>
          </a:p>
          <a:p>
            <a:pPr lvl="1"/>
            <a:r>
              <a:t>Enhanced customer experience and satisfaction</a:t>
            </a:r>
          </a:p>
          <a:p>
            <a:pPr lvl="1"/>
            <a:r>
              <a:t>Reduced operational risks and errors</a:t>
            </a:r>
          </a:p>
          <a:p>
            <a:pPr lvl="1"/>
            <a:r>
              <a:t>Faster time-to-market for new products</a:t>
            </a:r>
          </a:p>
          <a:p>
            <a:pPr lvl="1"/>
            <a:r>
              <a:t>Better regulatory compliance and reduced penalties</a:t>
            </a:r>
          </a:p>
          <a:p>
            <a:pPr/>
          </a:p>
          <a:p>
            <a:pPr/>
            <a:r>
              <a:t>Organizational Impact:</a:t>
            </a:r>
          </a:p>
          <a:p>
            <a:pPr lvl="1"/>
            <a:r>
              <a:t>Clear accountability for data assets</a:t>
            </a:r>
          </a:p>
          <a:p>
            <a:pPr lvl="1"/>
            <a:r>
              <a:t>Consistent data definitions across the enterprise</a:t>
            </a:r>
          </a:p>
          <a:p>
            <a:pPr lvl="1"/>
            <a:r>
              <a:t>Improved collaboration between business and IT</a:t>
            </a:r>
          </a:p>
          <a:p>
            <a:pPr lvl="1"/>
            <a:r>
              <a:t>Enhanced data literacy and awareness</a:t>
            </a:r>
          </a:p>
          <a:p>
            <a:pPr lvl="1"/>
            <a:r>
              <a:t>Foundation for advanced analytics and AI initiatives</a:t>
            </a:r>
          </a:p>
          <a:p>
            <a:pPr/>
          </a:p>
          <a:p>
            <a:pPr/>
            <a:r>
              <a:t>Competitive Advantage:</a:t>
            </a:r>
          </a:p>
          <a:p>
            <a:pPr lvl="1"/>
            <a:r>
              <a:t>Data-driven culture and innovation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Governance Review and Continuous Improvement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Regular Review Cycles:</a:t>
            </a:r>
          </a:p>
          <a:p>
            <a:pPr lvl="1"/>
            <a:r>
              <a:t>Monthly: Data Steward working sessions</a:t>
            </a:r>
          </a:p>
          <a:p>
            <a:pPr lvl="1"/>
            <a:r>
              <a:t>Quarterly: Data Governance Council meetings</a:t>
            </a:r>
          </a:p>
          <a:p>
            <a:pPr lvl="1"/>
            <a:r>
              <a:t>Annually: Comprehensive governance assessment</a:t>
            </a:r>
          </a:p>
          <a:p>
            <a:pPr/>
          </a:p>
          <a:p>
            <a:pPr/>
            <a:r>
              <a:t>Continuous Improvement Focus Areas:</a:t>
            </a:r>
          </a:p>
          <a:p>
            <a:pPr lvl="1"/>
            <a:r>
              <a:t>Policy and standards updates</a:t>
            </a:r>
          </a:p>
          <a:p>
            <a:pPr lvl="1"/>
            <a:r>
              <a:t>Technology and tool enhancements</a:t>
            </a:r>
          </a:p>
          <a:p>
            <a:pPr lvl="1"/>
            <a:r>
              <a:t>Process optimization</a:t>
            </a:r>
          </a:p>
          <a:p>
            <a:pPr lvl="1"/>
            <a:r>
              <a:t>Skills and capability development</a:t>
            </a:r>
          </a:p>
          <a:p>
            <a:pPr lvl="1"/>
            <a:r>
              <a:t>Industry best practice adoption</a:t>
            </a:r>
          </a:p>
          <a:p>
            <a:pPr/>
          </a:p>
          <a:p>
            <a:pPr/>
            <a:r>
              <a:t>Change Management:</a:t>
            </a:r>
          </a:p>
          <a:p>
            <a:pPr lvl="1"/>
            <a:r>
              <a:t>Regular communication and updates</a:t>
            </a:r>
          </a:p>
          <a:p>
            <a:pPr lvl="1"/>
            <a:r>
              <a:t>Stakeholder feedback incorporation</a:t>
            </a:r>
          </a:p>
          <a:p>
            <a:pPr lvl="1"/>
            <a:r>
              <a:t>Lessons learned documentation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Appendix: Key Regulatory 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IRDAI Regulations:</a:t>
            </a:r>
          </a:p>
          <a:p>
            <a:pPr lvl="1"/>
            <a:r>
              <a:t>IRDAI (Insurance Products) Regulations</a:t>
            </a:r>
          </a:p>
          <a:p>
            <a:pPr lvl="1"/>
            <a:r>
              <a:t>IRDAI (Protection of Policyholders' Interests) Regulations</a:t>
            </a:r>
          </a:p>
          <a:p>
            <a:pPr lvl="1"/>
            <a:r>
              <a:t>IRDAI (Actuarial Report and Abstract) Regulations</a:t>
            </a:r>
          </a:p>
          <a:p>
            <a:pPr lvl="1"/>
            <a:r>
              <a:t>IRDAI (Preparation of Financial Statements) Regulations</a:t>
            </a:r>
          </a:p>
          <a:p>
            <a:pPr lvl="1"/>
            <a:r>
              <a:t>IRDAI (Outsourcing of Activities) Guidelines</a:t>
            </a:r>
          </a:p>
          <a:p>
            <a:pPr/>
          </a:p>
          <a:p>
            <a:pPr/>
            <a:r>
              <a:t>Data Protection and Privacy:</a:t>
            </a:r>
          </a:p>
          <a:p>
            <a:pPr lvl="1"/>
            <a:r>
              <a:t>Digital Personal Data Protection Act (DPDP) 2023</a:t>
            </a:r>
          </a:p>
          <a:p>
            <a:pPr lvl="1"/>
            <a:r>
              <a:t>Information Technology Act, 2000</a:t>
            </a:r>
          </a:p>
          <a:p>
            <a:pPr lvl="1"/>
            <a:r>
              <a:t>Prevention of Money Laundering Act (PMLA) 2002</a:t>
            </a:r>
          </a:p>
          <a:p>
            <a:pPr/>
          </a:p>
          <a:p>
            <a:pPr/>
            <a:r>
              <a:t>Industry Standards:</a:t>
            </a:r>
          </a:p>
          <a:p>
            <a:pPr lvl="1"/>
            <a:r>
              <a:t>ISO 27001 - Information Security Management</a:t>
            </a:r>
          </a:p>
          <a:p>
            <a:pPr lvl="1"/>
            <a:r>
              <a:t>ISO 8000 - Data Quality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Contact and Support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Data Governance Office:</a:t>
            </a:r>
          </a:p>
          <a:p>
            <a:pPr lvl="1"/>
            <a:r>
              <a:t>Email: datagovernance@company.com</a:t>
            </a:r>
          </a:p>
          <a:p>
            <a:pPr lvl="1"/>
            <a:r>
              <a:t>Phone: [Contact Number]</a:t>
            </a:r>
          </a:p>
          <a:p>
            <a:pPr lvl="1"/>
            <a:r>
              <a:t>Intranet: [Data Governance Portal URL]</a:t>
            </a:r>
          </a:p>
          <a:p>
            <a:pPr/>
          </a:p>
          <a:p>
            <a:pPr/>
            <a:r>
              <a:t>For Queries:</a:t>
            </a:r>
          </a:p>
          <a:p>
            <a:pPr lvl="1"/>
            <a:r>
              <a:t>Data Access Requests: Contact your Data Owner</a:t>
            </a:r>
          </a:p>
          <a:p>
            <a:pPr lvl="1"/>
            <a:r>
              <a:t>Data Quality Issues: Contact your Data Steward</a:t>
            </a:r>
          </a:p>
          <a:p>
            <a:pPr lvl="1"/>
            <a:r>
              <a:t>Technical Support: Contact Data Custodian/IT Helpdesk</a:t>
            </a:r>
          </a:p>
          <a:p>
            <a:pPr lvl="1"/>
            <a:r>
              <a:t>Policy Questions: Contact Data Governance Office</a:t>
            </a:r>
          </a:p>
          <a:p>
            <a:pPr/>
          </a:p>
          <a:p>
            <a:pPr/>
            <a:r>
              <a:t>Resources:</a:t>
            </a:r>
          </a:p>
          <a:p>
            <a:pPr lvl="1"/>
            <a:r>
              <a:t>Data Governance Portal with policies and procedures</a:t>
            </a:r>
          </a:p>
          <a:p>
            <a:pPr lvl="1"/>
            <a:r>
              <a:t>Training materials and e-learning modules</a:t>
            </a:r>
          </a:p>
          <a:p>
            <a:pPr lvl="1"/>
            <a:r>
              <a:t>Data catalog and business glossary</a:t>
            </a:r>
          </a:p>
          <a:p>
            <a:pPr lvl="1"/>
            <a:r>
              <a:t>Monthly newsletters and updates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